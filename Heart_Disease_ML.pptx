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108AEF-A0D0-474E-B440-8BB042A9D2D8}" v="62" dt="2026-01-01T10:30:22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2EF0-530E-E60D-22FA-5FB557602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CD361-E5CA-08F8-F35A-B9A661BFC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E1270-3299-F1D9-6F7D-64714B4E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ADE84-5095-AB3C-3979-2E65760A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349A-7879-A094-074C-2F19E4D5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2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91287-A07F-6E39-A1F0-A33FD03D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EE1A-F2F9-CFC8-EE88-1F1EB1A1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47A16-E65F-9D1A-B4DB-061BCD6E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50D46-1D78-10F8-6D8C-E76F1B10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43D7F-4F58-FD16-3269-18146704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17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05546-14FE-09B0-EF92-FDD9815E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5BA06-6D81-CB15-2EF5-56E2826B2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B3590-444B-75A6-5551-8183C630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3058-7CA4-C135-4505-E3D7D2A6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DC8A7-AA0F-7567-5068-9E740569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4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2E7B-9D70-CA38-D196-15DF0518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70EE-44DC-ABF0-0175-220345D8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1B3AF-AAEB-66C9-CADB-89AC2CE76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F8BC-E878-4FF5-8A5D-16D758F3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FA0-D9E6-DD85-2A88-74D70BF2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5F489-DACD-2F0F-445E-10AFB7B4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6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384E-8035-FFE6-F35F-6F9B65BE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415BF-7ADD-0D99-291B-614638998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7C77B-21DB-9151-8E17-8283C3DAC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9052D-6F4A-E3C3-8FC9-2CCEC0DFF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C5314-BB7A-C3DF-A85B-4924366E5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E74E8-D2DD-8FBA-5A60-F1522BBC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B9703-9F7E-7602-287F-80AB3DB8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B5B9B-1DA7-A4B6-D05B-FC7D48C3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79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FFD8-AAAC-4190-E604-9C78DEAA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3917C-E8AD-4DA7-BBA7-FBCA89ED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AFFA0-9413-4097-5F6B-9754AD9F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7DF75-32F2-AECF-C0B3-B823EB7D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04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09F41-3AAC-6505-3878-7D300C9E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F0B67-A92E-43B1-8AD7-79A6FB51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46BA5-80BD-D48C-4DFC-130E11D8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6EEC-14FD-9BAD-A651-F38AC275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2B86-A21A-0F36-56CD-C6289D09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8A7FF-9204-49F1-5D5B-F4200B270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956DA-B179-9A55-B684-D6FC3D4B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4F2B1-2702-FD86-A318-41001598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904EA-874D-923E-9176-9EF1F3B6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0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F1B3-28DA-0F7F-FB69-B936446DF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0B8A5-1117-8C78-E87B-29AFB2C45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33F40-BA1F-5208-5123-ECEE94C4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CFBF8-7CC3-B0C9-7CCC-1F7A58E9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BF82E-92C7-411E-F3C3-F4987119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8E577-21B2-C862-4611-493D3C20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30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4A44-E908-5C9A-0916-CBFB7F47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BFDFC-80B2-FE9C-C9F6-003445B43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59968-EA48-226E-7633-3E396877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CFB40-E7EA-1F55-5B0E-1AF94DF6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4C5E2-97C4-B55A-64B8-F06F8FC1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47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65C723-55FA-CB84-B548-0481ABEA1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318FB-E079-301E-1AA3-7C0C79D47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58A9C-DEE0-0930-CE46-B7D426AC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2A9BC-D9C4-1D99-8129-5AB050EB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232E1-35AB-164E-14A7-3832B168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2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B564FA-98FA-E0C6-52B1-45B6929F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62489-6713-182F-9E53-C307BC708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C2BA4-66F6-D702-5D2B-E8EA4A271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98AD1-BBC1-4D6C-954D-96DCF20A615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822A1-B0AE-985F-FD81-A75ABACC2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BBED-DDC0-0023-63CD-98E3BF56C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F641F-EC2A-4D7A-9EDA-18650392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01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kaggle.com/datasets/johnsmith88/heart-disease-datas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5E56-4065-1766-297C-BBF04CBB0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755" y="1588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Copperplate Gothic Bold" panose="020E0705020206020404" pitchFamily="34" charset="0"/>
              </a:rPr>
              <a:t>Heart Disease Prediction System using Machine Learning</a:t>
            </a:r>
            <a:endParaRPr lang="en-IN" sz="4800" b="1" dirty="0">
              <a:solidFill>
                <a:srgbClr val="C00000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E1FF4-10FC-90A3-D175-54AAE4EE0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7639" y="4311598"/>
            <a:ext cx="6744929" cy="238760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Name: Shatadru Ghosh</a:t>
            </a:r>
          </a:p>
          <a:p>
            <a:pPr algn="l"/>
            <a:r>
              <a:rPr lang="en-US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Institute: NIT Durgapur</a:t>
            </a:r>
          </a:p>
          <a:p>
            <a:pPr algn="l"/>
            <a:r>
              <a:rPr lang="en-US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Department: Electrical Engineering</a:t>
            </a:r>
          </a:p>
          <a:p>
            <a:pPr algn="l"/>
            <a:r>
              <a:rPr lang="en-US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Year of Study: 1</a:t>
            </a:r>
            <a:r>
              <a:rPr lang="en-US" baseline="30000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st</a:t>
            </a:r>
            <a:r>
              <a:rPr lang="en-US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 year </a:t>
            </a:r>
            <a:r>
              <a:rPr lang="en-US" dirty="0" err="1">
                <a:solidFill>
                  <a:schemeClr val="tx2"/>
                </a:solidFill>
                <a:latin typeface="Copperplate Gothic Bold" panose="020E0705020206020404" pitchFamily="34" charset="0"/>
              </a:rPr>
              <a:t>B.Tech</a:t>
            </a:r>
            <a:r>
              <a:rPr lang="en-US">
                <a:solidFill>
                  <a:schemeClr val="tx2"/>
                </a:solidFill>
                <a:latin typeface="Copperplate Gothic Bold" panose="020E0705020206020404" pitchFamily="34" charset="0"/>
              </a:rPr>
              <a:t> UG</a:t>
            </a:r>
            <a:endParaRPr lang="en-US" dirty="0">
              <a:solidFill>
                <a:schemeClr val="tx2"/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78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B907-0DF5-5EB0-F323-9B8CC5D1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3" y="578978"/>
            <a:ext cx="11595744" cy="103105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Introduction 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1D3B-C496-BFE2-CC34-962C793C8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2" y="1828800"/>
            <a:ext cx="11595745" cy="483122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Heart disease is a major cause of death worldwide.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Early diagnosis is very crucial for treatment and cure.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Diagnostic tests are often expensive and time consuming.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ML based model helps in predicting if a person has heart disease or not based on some physical parameters of the person.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It can be very helpful for medical practitioners to detect heart disease in patients by just entering some values as input to this model.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model makes detection of heart diseases very cost effective and fast.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Faster diagnosis ensures early beginning of treatment and faster recovery.</a:t>
            </a:r>
            <a:endParaRPr lang="en-IN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61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7975-ECA9-F3AF-B90F-99358AD3B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289900"/>
            <a:ext cx="7669163" cy="86047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Dataset Description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BFE73FE-F426-1109-9272-61EB6A39D9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162" y="1869287"/>
            <a:ext cx="5488631" cy="4165675"/>
          </a:xfrm>
          <a:ln w="19050">
            <a:solidFill>
              <a:schemeClr val="tx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04EB9-3202-7A1B-98B6-DD2E95124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631" y="1869287"/>
            <a:ext cx="5624208" cy="4698813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Source: Kaggle</a:t>
            </a:r>
            <a:r>
              <a:rPr lang="en-IN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  <a:hlinkClick r:id="rId4"/>
              </a:rPr>
              <a:t>https://www.kaggle.com/datasets/johnsmith88/heart-disease-dataset</a:t>
            </a:r>
            <a:endParaRPr lang="en-IN" sz="3700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Contains information of 1025 patients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Contains 14 attributes storing various parameters of patient’s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“Target” attribute is integer valued [0=no disease; 1=disease]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7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The other 13 attributes are shown.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7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F591-729B-D103-6DC8-DCA6ADAA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Flow of Data through the System 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DDBC7B-BAB5-57E6-4E71-AE63A4768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48" b="44389"/>
          <a:stretch>
            <a:fillRect/>
          </a:stretch>
        </p:blipFill>
        <p:spPr>
          <a:xfrm>
            <a:off x="756501" y="2140816"/>
            <a:ext cx="10597299" cy="2261736"/>
          </a:xfrm>
        </p:spPr>
      </p:pic>
    </p:spTree>
    <p:extLst>
      <p:ext uri="{BB962C8B-B14F-4D97-AF65-F5344CB8AC3E}">
        <p14:creationId xmlns:p14="http://schemas.microsoft.com/office/powerpoint/2010/main" val="123740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C349E-99BB-8E75-305F-60198135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User Interface (Frontend)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0E90-A4A2-488E-8B88-D07CE29DA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0054"/>
            <a:ext cx="11288486" cy="4351338"/>
          </a:xfrm>
        </p:spPr>
        <p:txBody>
          <a:bodyPr>
            <a:normAutofit/>
          </a:bodyPr>
          <a:lstStyle/>
          <a:p>
            <a:endParaRPr lang="en-US" sz="2600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Developed using HTML and CSS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Allows the doctor or user to input details of the patient like age, cholesterol, blood pressure, ECG result, maximum heart rate, etc.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Sends the input via POST request to Flask server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Also returns the final output of prediction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499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6F58-3254-0E96-30C8-119DFE64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Flask Web Server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9C5D-8AF7-0B5D-9D37-817AABC35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Acts as the middleware</a:t>
            </a:r>
          </a:p>
          <a:p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Receives user input</a:t>
            </a:r>
          </a:p>
          <a:p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Handles routing and response generation</a:t>
            </a:r>
          </a:p>
          <a:p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Calls ML pipeline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274493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6F312-505A-3BD4-A74A-6989F9F8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CDA7-BAD6-8EE3-3740-5097686E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Data Preprocessing Module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1761-3310-395A-2B77-7415D632A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Uses StandardScaler from Scikit-Learn library of Python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It ensures</a:t>
            </a:r>
          </a:p>
          <a:p>
            <a:pPr lvl="1"/>
            <a:r>
              <a:rPr lang="en-US" sz="2800" dirty="0">
                <a:solidFill>
                  <a:srgbClr val="002060"/>
                </a:solidFill>
                <a:latin typeface="Bookman Old Style" panose="02050604050505020204" pitchFamily="18" charset="0"/>
              </a:rPr>
              <a:t>Feature normalization</a:t>
            </a:r>
          </a:p>
          <a:p>
            <a:pPr lvl="1"/>
            <a:r>
              <a:rPr lang="en-US" sz="2800" dirty="0">
                <a:solidFill>
                  <a:srgbClr val="002060"/>
                </a:solidFill>
                <a:latin typeface="Bookman Old Style" panose="02050604050505020204" pitchFamily="18" charset="0"/>
              </a:rPr>
              <a:t>Compatibility with trained ML models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Prevents bias due to scale differences</a:t>
            </a:r>
          </a:p>
        </p:txBody>
      </p:sp>
    </p:spTree>
    <p:extLst>
      <p:ext uri="{BB962C8B-B14F-4D97-AF65-F5344CB8AC3E}">
        <p14:creationId xmlns:p14="http://schemas.microsoft.com/office/powerpoint/2010/main" val="347991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8BC5-BFD1-5C58-10A0-1F66C3BF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40" y="3556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Machine Learning Ensemble method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FCC13-B00C-61F0-87C4-E94E1A14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380" y="1681163"/>
            <a:ext cx="5853196" cy="82391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ookman Old Style" panose="02050604050505020204" pitchFamily="18" charset="0"/>
              </a:rPr>
              <a:t>Models used: </a:t>
            </a:r>
            <a:endParaRPr lang="en-IN" sz="3200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9C822-40B7-169D-E6DD-F2EF9DDF2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380" y="2505075"/>
            <a:ext cx="5853195" cy="3684588"/>
          </a:xfrm>
        </p:spPr>
        <p:txBody>
          <a:bodyPr>
            <a:normAutofit lnSpcReduction="10000"/>
          </a:bodyPr>
          <a:lstStyle/>
          <a:p>
            <a:endParaRPr lang="en-IN" sz="24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From scikit-learn:</a:t>
            </a:r>
          </a:p>
          <a:p>
            <a:pPr lvl="1"/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Logistic Regression (linear model)</a:t>
            </a:r>
          </a:p>
          <a:p>
            <a:pPr lvl="1"/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</a:rPr>
              <a:t>Ensemble models:</a:t>
            </a:r>
          </a:p>
          <a:p>
            <a:pPr lvl="2"/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RandomForest Classifier</a:t>
            </a:r>
          </a:p>
          <a:p>
            <a:pPr lvl="2"/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XGBoost Classifier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XGBoost Classifier from </a:t>
            </a:r>
            <a:r>
              <a:rPr lang="en-US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XGboost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2295E-FD61-59EF-1DD3-A0CE70DD1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853196" cy="823912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Technique: </a:t>
            </a:r>
            <a:endParaRPr lang="en-IN" sz="3200" dirty="0">
              <a:latin typeface="Bookman Old Style" panose="020506040505050202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984AE-61E9-BFAA-BEC2-3DA42E401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875420" cy="3684588"/>
          </a:xfrm>
        </p:spPr>
        <p:txBody>
          <a:bodyPr>
            <a:normAutofit lnSpcReduction="10000"/>
          </a:bodyPr>
          <a:lstStyle/>
          <a:p>
            <a:endParaRPr lang="en-US" sz="24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Soft voting ensemble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Combines probability outputs from all models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Improves: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Accuracy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Robustness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Generalization</a:t>
            </a:r>
            <a:endParaRPr lang="en-IN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57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88FA3-D95F-DE41-E76E-B0DF7ACD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7BC71-4B1F-B6BC-E0B2-F35AA480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Prediction Module &amp; Result Display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F61F-9316-1337-EC07-9AE046DA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Final output: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1 – Heart Disease Detected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0 – No Heart Disease</a:t>
            </a:r>
            <a:endParaRPr lang="en-US" sz="2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Converts numerical output to human-readable medical result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Prediction  rendered dynamically on web page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Clear visual feedback for users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Fast interface (&lt;1 second)</a:t>
            </a:r>
          </a:p>
          <a:p>
            <a:pPr marL="457200" lvl="1" indent="0">
              <a:buNone/>
            </a:pPr>
            <a:endParaRPr lang="en-US" sz="2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76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CAE2B-1A8D-F2C7-472A-05BDB879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3AFB-FE9A-0535-C43D-782FADE0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365125"/>
            <a:ext cx="9898626" cy="89375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Technologies Used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4816-2DD7-7E52-3A07-E6C17F409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457200" lvl="1" indent="0">
              <a:buNone/>
            </a:pPr>
            <a:endParaRPr lang="en-US" sz="2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DF1BF6-188B-ABDC-77D4-9F29BBF5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32555"/>
              </p:ext>
            </p:extLst>
          </p:nvPr>
        </p:nvGraphicFramePr>
        <p:xfrm>
          <a:off x="432620" y="1825625"/>
          <a:ext cx="11267766" cy="419837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623342">
                  <a:extLst>
                    <a:ext uri="{9D8B030D-6E8A-4147-A177-3AD203B41FA5}">
                      <a16:colId xmlns:a16="http://schemas.microsoft.com/office/drawing/2014/main" val="4284050256"/>
                    </a:ext>
                  </a:extLst>
                </a:gridCol>
                <a:gridCol w="5644424">
                  <a:extLst>
                    <a:ext uri="{9D8B030D-6E8A-4147-A177-3AD203B41FA5}">
                      <a16:colId xmlns:a16="http://schemas.microsoft.com/office/drawing/2014/main" val="1419218334"/>
                    </a:ext>
                  </a:extLst>
                </a:gridCol>
              </a:tblGrid>
              <a:tr h="4032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Layer</a:t>
                      </a:r>
                      <a:endParaRPr lang="en-IN" sz="24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Technology</a:t>
                      </a:r>
                      <a:endParaRPr lang="en-IN" sz="24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38966"/>
                  </a:ext>
                </a:extLst>
              </a:tr>
              <a:tr h="40325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Frontend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HTML, CSS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591567"/>
                  </a:ext>
                </a:extLst>
              </a:tr>
              <a:tr h="40325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Backend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Flask (Python)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863827"/>
                  </a:ext>
                </a:extLst>
              </a:tr>
              <a:tr h="39794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ML Models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Scikit-Learn, XGBoost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522034"/>
                  </a:ext>
                </a:extLst>
              </a:tr>
              <a:tr h="40325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Data Handling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Pandas, NumPy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144671"/>
                  </a:ext>
                </a:extLst>
              </a:tr>
              <a:tr h="4655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Deployment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Localhost (Development Server)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207255"/>
                  </a:ext>
                </a:extLst>
              </a:tr>
              <a:tr h="5175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Data transfer between ML model and Flask 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Joblib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936203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Generating accuracy score, classification report &amp; confusion matrix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Scikit-Learn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212316"/>
                  </a:ext>
                </a:extLst>
              </a:tr>
              <a:tr h="4493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Plotting confusion matrix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Matplotlib, Seaborn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994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53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69674-6847-797A-023B-B62DA182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DD41-F340-520E-7B90-8099DA4D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9947"/>
            <a:ext cx="10515600" cy="97160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Steps to run the project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8CC09-8F4F-B7F3-C395-1B3B01CB3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1081548"/>
            <a:ext cx="11808542" cy="566650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Open the project directory in VS Code and check if it has the following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 dataset named “heart.csv”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 python file named “ml_model.py” (this code fetches data from the dataset, trains the ML model and dumps the data in 2 files named as “model.pkl” and “</a:t>
            </a:r>
            <a:r>
              <a:rPr lang="en-US" sz="16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scaler.pkl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”)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 python file named “web_app.py” (this code fetches data from the 2 .</a:t>
            </a:r>
            <a:r>
              <a:rPr lang="en-US" sz="16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pkl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files and connects with Flask server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 folder named “templates” containing a file named “index.html” (the html code creates the web page)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 folder named “static” containing:</a:t>
            </a:r>
          </a:p>
          <a:p>
            <a:pPr lvl="2"/>
            <a:r>
              <a:rPr lang="en-US" sz="1200" dirty="0">
                <a:solidFill>
                  <a:srgbClr val="002060"/>
                </a:solidFill>
                <a:latin typeface="Bookman Old Style" panose="02050604050505020204" pitchFamily="18" charset="0"/>
              </a:rPr>
              <a:t>a file named “style.css” (this code adds details to the web page)</a:t>
            </a:r>
          </a:p>
          <a:p>
            <a:pPr lvl="2"/>
            <a:r>
              <a:rPr lang="en-US" sz="1200" dirty="0">
                <a:solidFill>
                  <a:srgbClr val="002060"/>
                </a:solidFill>
                <a:latin typeface="Bookman Old Style" panose="02050604050505020204" pitchFamily="18" charset="0"/>
              </a:rPr>
              <a:t>An image file named “heart_bg.jpeg”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Create a virtual environment with Python 3.14.2 as the interpreter and activate it.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Install required libraries in the virtual environment by running this command in the terminal of VS Code: “pip install numpy pandas matplotlib scikit-learn xgboost flask joblib seaborn”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Run the “ml_model.py” and “web_app.py” files one by one in the virtual environment using commands: “python –m ml_model” and “python –m web_app” respectively.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Open the web page by going to the displayed URL.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Enter all details in the form of the web page and click on “GET PREDICTION” button to view the prediction.</a:t>
            </a: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lvl="2"/>
            <a:endParaRPr lang="en-US" sz="1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lvl="2"/>
            <a:endParaRPr lang="en-US" sz="1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41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FC5E-96BF-D126-A914-DADA22D4C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6"/>
            <a:ext cx="11572568" cy="82391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Some Statistics of the Project</a:t>
            </a:r>
            <a:endParaRPr lang="en-IN" sz="40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ABC93-3E6A-D8CF-1095-DA8635DCB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408" y="1288718"/>
            <a:ext cx="5692775" cy="82391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Bookman Old Style" panose="02050604050505020204" pitchFamily="18" charset="0"/>
              </a:rPr>
              <a:t>Accuracy Score &amp; Classification Report</a:t>
            </a:r>
            <a:endParaRPr lang="en-IN" sz="3200" dirty="0">
              <a:latin typeface="Bookman Old Style" panose="020506040505050202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4D0085C-713E-6CB7-D3E2-3EE3519F53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08" y="2719297"/>
            <a:ext cx="5561758" cy="312106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F2B9A-ABDA-3155-CC6F-DC31E8AE5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33418" y="1288718"/>
            <a:ext cx="5043949" cy="82391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Bookman Old Style" panose="02050604050505020204" pitchFamily="18" charset="0"/>
              </a:rPr>
              <a:t>Confusion Matrix</a:t>
            </a:r>
            <a:endParaRPr lang="en-IN" sz="3200" dirty="0">
              <a:latin typeface="Bookman Old Style" panose="0205060405050502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C45D76-7D3C-0407-C567-B1BF37A3A3F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18" y="2505074"/>
            <a:ext cx="4572009" cy="3657607"/>
          </a:xfrm>
        </p:spPr>
      </p:pic>
    </p:spTree>
    <p:extLst>
      <p:ext uri="{BB962C8B-B14F-4D97-AF65-F5344CB8AC3E}">
        <p14:creationId xmlns:p14="http://schemas.microsoft.com/office/powerpoint/2010/main" val="1931396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171D-DD9F-8355-7953-74D73412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29215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Brush Script MT" panose="03060802040406070304" pitchFamily="66" charset="0"/>
              </a:rPr>
              <a:t>Thank You</a:t>
            </a:r>
            <a:endParaRPr lang="en-IN" sz="7200" dirty="0">
              <a:solidFill>
                <a:srgbClr val="C00000"/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54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729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Bookman Old Style</vt:lpstr>
      <vt:lpstr>Brush Script MT</vt:lpstr>
      <vt:lpstr>Calibri</vt:lpstr>
      <vt:lpstr>Calibri Light</vt:lpstr>
      <vt:lpstr>Copperplate Gothic Bold</vt:lpstr>
      <vt:lpstr>Wingdings</vt:lpstr>
      <vt:lpstr>Office Theme</vt:lpstr>
      <vt:lpstr>Heart Disease Prediction System using Machine Learning</vt:lpstr>
      <vt:lpstr>Introduction </vt:lpstr>
      <vt:lpstr>Dataset Description</vt:lpstr>
      <vt:lpstr>Flow of Data through the System </vt:lpstr>
      <vt:lpstr>User Interface (Frontend)</vt:lpstr>
      <vt:lpstr>Flask Web Server</vt:lpstr>
      <vt:lpstr>Data Preprocessing Module</vt:lpstr>
      <vt:lpstr>Machine Learning Ensemble method</vt:lpstr>
      <vt:lpstr>Prediction Module &amp; Result Display</vt:lpstr>
      <vt:lpstr>Technologies Used</vt:lpstr>
      <vt:lpstr>Steps to run the project</vt:lpstr>
      <vt:lpstr>Some Statistics of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Shatadru Ghosh</dc:creator>
  <cp:lastModifiedBy>Shatadru Ghosh</cp:lastModifiedBy>
  <cp:revision>9</cp:revision>
  <dcterms:created xsi:type="dcterms:W3CDTF">2025-12-31T19:54:10Z</dcterms:created>
  <dcterms:modified xsi:type="dcterms:W3CDTF">2026-01-01T12:03:42Z</dcterms:modified>
</cp:coreProperties>
</file>